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embeddedFontLst>
    <p:embeddedFont>
      <p:font typeface="Consolas" panose="020B0609020204030204" pitchFamily="49" charset="0"/>
      <p:regular r:id="rId13"/>
      <p:bold r:id="rId14"/>
      <p:italic r:id="rId15"/>
      <p:boldItalic r:id="rId16"/>
    </p:embeddedFont>
    <p:embeddedFont>
      <p:font typeface="IBM Plex Sans" panose="020B0503050203000203" pitchFamily="34" charset="0"/>
      <p:regular r:id="rId17"/>
      <p:bold r:id="rId18"/>
      <p:italic r:id="rId19"/>
    </p:embeddedFont>
    <p:embeddedFont>
      <p:font typeface="IBM Plex Sans Bold" panose="020B0803050203000203" charset="0"/>
      <p:regular r:id="rId20"/>
    </p:embeddedFont>
    <p:embeddedFont>
      <p:font typeface="IBM Plex Sans SemiBold" panose="020B0703050203000203" pitchFamily="34" charset="0"/>
      <p:regular r:id="rId21"/>
      <p:bold r:id="rId22"/>
    </p:embeddedFont>
    <p:embeddedFont>
      <p:font typeface="Sora Bold" panose="020B0604020202020204" charset="0"/>
      <p:regular r:id="rId2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63438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F2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189" y="457200"/>
            <a:ext cx="6390421" cy="5223669"/>
          </a:xfrm>
          <a:prstGeom prst="rect">
            <a:avLst/>
          </a:prstGeom>
          <a:solidFill>
            <a:srgbClr val="083C3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1117572" y="1075880"/>
            <a:ext cx="5730037" cy="1731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1100" kern="100" spc="60" dirty="0">
                <a:solidFill>
                  <a:srgbClr val="FFFFFF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DESIGN AND ANALYSIS OF ALGORITHMS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17572" y="1777405"/>
            <a:ext cx="522205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5600" b="1" kern="100" spc="-140" dirty="0">
                <a:solidFill>
                  <a:srgbClr val="FFFFFF"/>
                </a:solidFill>
                <a:latin typeface="Sora Bold" pitchFamily="34" charset="0"/>
                <a:ea typeface="Sora Bold" pitchFamily="34" charset="-122"/>
                <a:cs typeface="Sora Bold" pitchFamily="34" charset="-120"/>
              </a:rPr>
              <a:t>Travelling</a:t>
            </a:r>
            <a:endParaRPr lang="en-US" sz="5600" dirty="0"/>
          </a:p>
          <a:p>
            <a:pPr marL="0" indent="0" algn="l">
              <a:lnSpc>
                <a:spcPct val="83000"/>
              </a:lnSpc>
              <a:buNone/>
            </a:pPr>
            <a:r>
              <a:rPr lang="en-US" sz="5600" b="1" kern="100" spc="-140" dirty="0">
                <a:solidFill>
                  <a:srgbClr val="FFFFFF"/>
                </a:solidFill>
                <a:latin typeface="Sora Bold" pitchFamily="34" charset="0"/>
                <a:ea typeface="Sora Bold" pitchFamily="34" charset="-122"/>
                <a:cs typeface="Sora Bold" pitchFamily="34" charset="-120"/>
              </a:rPr>
              <a:t>Salesman</a:t>
            </a:r>
            <a:endParaRPr lang="en-US" sz="5600" dirty="0"/>
          </a:p>
          <a:p>
            <a:pPr marL="0" indent="0" algn="l">
              <a:lnSpc>
                <a:spcPct val="83000"/>
              </a:lnSpc>
              <a:buNone/>
            </a:pPr>
            <a:r>
              <a:rPr lang="en-US" sz="5600" b="1" kern="100" spc="-140" dirty="0">
                <a:solidFill>
                  <a:srgbClr val="FFFFFF"/>
                </a:solidFill>
                <a:latin typeface="Sora Bold" pitchFamily="34" charset="0"/>
                <a:ea typeface="Sora Bold" pitchFamily="34" charset="-122"/>
                <a:cs typeface="Sora Bold" pitchFamily="34" charset="-120"/>
              </a:rPr>
              <a:t>Problem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1117572" y="4010192"/>
            <a:ext cx="5222050" cy="3017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Finding the Optimal Route Using Algorithms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17572" y="4785058"/>
            <a:ext cx="5222050" cy="3686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847609" y="457200"/>
            <a:ext cx="4886897" cy="522366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6203" y="889000"/>
            <a:ext cx="4074118" cy="40741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71752" y="1525717"/>
            <a:ext cx="1311172" cy="1290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750" b="1" kern="100" spc="-15" dirty="0">
                <a:solidFill>
                  <a:srgbClr val="FFFFFF"/>
                </a:solidFill>
                <a:latin typeface="Sora Bold" pitchFamily="34" charset="0"/>
                <a:ea typeface="Sora Bold" pitchFamily="34" charset="-122"/>
                <a:cs typeface="Sora Bold" pitchFamily="34" charset="-120"/>
              </a:rPr>
              <a:t>A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7471752" y="1733839"/>
            <a:ext cx="1311172" cy="5456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Link to B (3), C (4) and D (2); connects to next.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9447675" y="1616664"/>
            <a:ext cx="1311172" cy="1290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750" b="1" kern="100" spc="-15" dirty="0">
                <a:solidFill>
                  <a:srgbClr val="FFFFFF"/>
                </a:solidFill>
                <a:latin typeface="Sora Bold" pitchFamily="34" charset="0"/>
                <a:ea typeface="Sora Bold" pitchFamily="34" charset="-122"/>
                <a:cs typeface="Sora Bold" pitchFamily="34" charset="-120"/>
              </a:rPr>
              <a:t>B</a:t>
            </a:r>
            <a:endParaRPr lang="en-US" sz="750" dirty="0"/>
          </a:p>
        </p:txBody>
      </p:sp>
      <p:sp>
        <p:nvSpPr>
          <p:cNvPr id="12" name="Text 9"/>
          <p:cNvSpPr/>
          <p:nvPr/>
        </p:nvSpPr>
        <p:spPr>
          <a:xfrm>
            <a:off x="9447675" y="1824786"/>
            <a:ext cx="1311172" cy="363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Link to A (3), C (5) and D (6); continues cycle.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471752" y="3501690"/>
            <a:ext cx="1311172" cy="1290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750" b="1" kern="100" spc="-15" dirty="0">
                <a:solidFill>
                  <a:srgbClr val="FFFFFF"/>
                </a:solidFill>
                <a:latin typeface="Sora Bold" pitchFamily="34" charset="0"/>
                <a:ea typeface="Sora Bold" pitchFamily="34" charset="-122"/>
                <a:cs typeface="Sora Bold" pitchFamily="34" charset="-120"/>
              </a:rPr>
              <a:t>C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7471752" y="3709812"/>
            <a:ext cx="1311172" cy="5456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Link to A (4), B (5) and D (1); leads toward finish.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9447675" y="3501690"/>
            <a:ext cx="1311172" cy="1290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750" b="1" kern="100" spc="-15" dirty="0">
                <a:solidFill>
                  <a:srgbClr val="FFFFFF"/>
                </a:solidFill>
                <a:latin typeface="Sora Bold" pitchFamily="34" charset="0"/>
                <a:ea typeface="Sora Bold" pitchFamily="34" charset="-122"/>
                <a:cs typeface="Sora Bold" pitchFamily="34" charset="-120"/>
              </a:rPr>
              <a:t>D</a:t>
            </a:r>
            <a:endParaRPr lang="en-US" sz="750" dirty="0"/>
          </a:p>
        </p:txBody>
      </p:sp>
      <p:sp>
        <p:nvSpPr>
          <p:cNvPr id="16" name="Text 13"/>
          <p:cNvSpPr/>
          <p:nvPr/>
        </p:nvSpPr>
        <p:spPr>
          <a:xfrm>
            <a:off x="9447675" y="3709812"/>
            <a:ext cx="1311172" cy="5456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Link to A (2), B (6) and C (1); completes highlighted cycle.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847609" y="5071007"/>
            <a:ext cx="4683702" cy="1843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route is easy to draw. Finding the best one is the problem.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0" y="5915755"/>
            <a:ext cx="11886903" cy="1843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1100" dirty="0">
                <a:solidFill>
                  <a:srgbClr val="5F6D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01 · DAA / TSP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783" y="694880"/>
            <a:ext cx="5902773" cy="1731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1100" kern="100" spc="60" dirty="0">
                <a:solidFill>
                  <a:srgbClr val="0A7C78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783" y="1002955"/>
            <a:ext cx="5674178" cy="11844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4400" b="1" kern="100" spc="-88" dirty="0">
                <a:solidFill>
                  <a:srgbClr val="10201D"/>
                </a:solidFill>
                <a:latin typeface="Sora Bold" pitchFamily="34" charset="0"/>
                <a:ea typeface="Sora Bold" pitchFamily="34" charset="-122"/>
                <a:cs typeface="Sora Bold" pitchFamily="34" charset="-120"/>
              </a:rPr>
              <a:t>Every city once—then back home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783" y="2405487"/>
            <a:ext cx="5902773" cy="2978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simple rule creates a difficult search space.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85783" y="2846090"/>
            <a:ext cx="868738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700" dirty="0">
                <a:solidFill>
                  <a:srgbClr val="083C35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01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85783" y="3201757"/>
            <a:ext cx="1688165" cy="3017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Visit every city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85783" y="3683822"/>
            <a:ext cx="1688165" cy="8935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Each city is visited exactly once.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2678740" y="2846090"/>
            <a:ext cx="868738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700" dirty="0">
                <a:solidFill>
                  <a:srgbClr val="083C35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02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678740" y="3201757"/>
            <a:ext cx="1688165" cy="3017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Return to start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678740" y="3683822"/>
            <a:ext cx="1688165" cy="8935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route closes into a complete tour.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671697" y="2846090"/>
            <a:ext cx="868738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700" dirty="0">
                <a:solidFill>
                  <a:srgbClr val="083C35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03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671697" y="3201757"/>
            <a:ext cx="1688264" cy="3017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Minimize cost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71697" y="3683822"/>
            <a:ext cx="1688264" cy="11914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Choose the tour with the least distance or travel cost.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85783" y="5024275"/>
            <a:ext cx="5902773" cy="1843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100" dirty="0">
                <a:solidFill>
                  <a:srgbClr val="5F6D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 the number of cities increases, the possible routes grow rapidly.</a:t>
            </a:r>
            <a:endParaRPr lang="en-US" sz="1100" dirty="0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4239" y="685800"/>
            <a:ext cx="4231673" cy="415438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7274239" y="5024275"/>
            <a:ext cx="4460267" cy="1843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100" dirty="0">
                <a:solidFill>
                  <a:srgbClr val="5F6D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candidate tour, highlighted among many possible journeys.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0" y="5665823"/>
            <a:ext cx="11886903" cy="1843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1100" dirty="0">
                <a:solidFill>
                  <a:srgbClr val="5F6D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02 · DAA / TSP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466280"/>
            <a:ext cx="11734506" cy="1731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1100" kern="100" spc="60" dirty="0">
                <a:solidFill>
                  <a:srgbClr val="0A7C78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FORMAL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189" y="774355"/>
            <a:ext cx="11277318" cy="11844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4400" b="1" kern="100" spc="-88" dirty="0">
                <a:solidFill>
                  <a:srgbClr val="10201D"/>
                </a:solidFill>
                <a:latin typeface="Sora Bold" pitchFamily="34" charset="0"/>
                <a:ea typeface="Sora Bold" pitchFamily="34" charset="-122"/>
                <a:cs typeface="Sora Bold" pitchFamily="34" charset="-120"/>
              </a:rPr>
              <a:t>TSP turns a route into an optimization problem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189" y="2399010"/>
            <a:ext cx="5049414" cy="1489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spcAft>
                <a:spcPts val="1150"/>
              </a:spcAft>
              <a:buNone/>
            </a:pPr>
            <a:r>
              <a:rPr lang="en-US" sz="17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Cities are vertices; travel links are weighted edges.</a:t>
            </a:r>
            <a:endParaRPr lang="en-US" sz="1700" dirty="0"/>
          </a:p>
          <a:p>
            <a:pPr marL="0" indent="0" algn="l">
              <a:lnSpc>
                <a:spcPct val="115000"/>
              </a:lnSpc>
              <a:spcAft>
                <a:spcPts val="1150"/>
              </a:spcAft>
              <a:buNone/>
            </a:pPr>
            <a:r>
              <a:rPr lang="en-US" sz="17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tour visits each city exactly once and returns to the start.</a:t>
            </a:r>
            <a:endParaRPr lang="en-US" sz="17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Objective: minimize the total tour cost.</a:t>
            </a:r>
            <a:endParaRPr lang="en-US" sz="17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89" y="4038104"/>
            <a:ext cx="5049414" cy="47019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189" y="4616188"/>
            <a:ext cx="5049414" cy="1843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100" dirty="0">
                <a:solidFill>
                  <a:srgbClr val="5F6D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Over a Hamiltonian cycle; each </a:t>
            </a:r>
            <a:r>
              <a:rPr lang="en-US" sz="1100" i="1" dirty="0">
                <a:solidFill>
                  <a:srgbClr val="5F6D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d(i,j)</a:t>
            </a:r>
            <a:r>
              <a:rPr lang="en-US" sz="1100" dirty="0">
                <a:solidFill>
                  <a:srgbClr val="5F6D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is a distance or travel cost.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63691" y="2170410"/>
            <a:ext cx="5770815" cy="3817441"/>
          </a:xfrm>
          <a:prstGeom prst="roundRect">
            <a:avLst>
              <a:gd name="adj" fmla="val 5589"/>
            </a:avLst>
          </a:prstGeom>
          <a:solidFill>
            <a:srgbClr val="FFFFFF"/>
          </a:solidFill>
          <a:ln w="12700">
            <a:solidFill>
              <a:srgbClr val="CBD4CE"/>
            </a:solidFill>
            <a:prstDash val="solid"/>
          </a:ln>
          <a:effectLst>
            <a:outerShdw blurRad="227330" dist="74930" dir="5400000" algn="bl" rotWithShape="0">
              <a:srgbClr val="083C35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1183" y="2650331"/>
            <a:ext cx="5135831" cy="28575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0" y="6222738"/>
            <a:ext cx="11886903" cy="1843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1100" dirty="0">
                <a:solidFill>
                  <a:srgbClr val="5F6D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03 · DAA / TSP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466280"/>
            <a:ext cx="11734506" cy="1731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1100" kern="100" spc="60" dirty="0">
                <a:solidFill>
                  <a:srgbClr val="0A7C78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VARIANTS AND APPLICATIONS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189" y="774355"/>
            <a:ext cx="11277318" cy="5922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4400" b="1" kern="100" spc="-88" dirty="0">
                <a:solidFill>
                  <a:srgbClr val="10201D"/>
                </a:solidFill>
                <a:latin typeface="Sora Bold" pitchFamily="34" charset="0"/>
                <a:ea typeface="Sora Bold" pitchFamily="34" charset="-122"/>
                <a:cs typeface="Sora Bold" pitchFamily="34" charset="-120"/>
              </a:rPr>
              <a:t>Two variants, many real-world uses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189" y="1587254"/>
            <a:ext cx="5410065" cy="1731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1100" kern="100" spc="60" dirty="0">
                <a:solidFill>
                  <a:srgbClr val="0A7C78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VARIANTS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189" y="1900535"/>
            <a:ext cx="2552636" cy="3963392"/>
          </a:xfrm>
          <a:prstGeom prst="roundRect">
            <a:avLst>
              <a:gd name="adj" fmla="val 3552"/>
            </a:avLst>
          </a:prstGeom>
          <a:solidFill>
            <a:srgbClr val="E5E9D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582" y="2129135"/>
            <a:ext cx="431789" cy="431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6582" y="2723876"/>
            <a:ext cx="1993850" cy="804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Symmetric TSP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736582" y="3698974"/>
            <a:ext cx="1993850" cy="1340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spcAft>
                <a:spcPts val="1150"/>
              </a:spcAft>
              <a:buNone/>
            </a:pPr>
            <a:r>
              <a:rPr lang="en-US" sz="1700" b="1" dirty="0">
                <a:solidFill>
                  <a:srgbClr val="10201D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d(A,B) = d(B,A)</a:t>
            </a:r>
            <a:endParaRPr lang="en-US" sz="17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Travel cost is the same in either direction.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3314617" y="1900535"/>
            <a:ext cx="2552636" cy="3963392"/>
          </a:xfrm>
          <a:prstGeom prst="roundRect">
            <a:avLst>
              <a:gd name="adj" fmla="val 3552"/>
            </a:avLst>
          </a:prstGeom>
          <a:solidFill>
            <a:srgbClr val="E5E9D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4010" y="2129135"/>
            <a:ext cx="431789" cy="4318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594010" y="2723876"/>
            <a:ext cx="1993850" cy="804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Asymmetric TSP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3594010" y="3698974"/>
            <a:ext cx="1993850" cy="19363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5000"/>
              </a:lnSpc>
              <a:spcAft>
                <a:spcPts val="1150"/>
              </a:spcAft>
              <a:buNone/>
            </a:pPr>
            <a:r>
              <a:rPr lang="en-US" sz="1700" b="1" dirty="0">
                <a:solidFill>
                  <a:srgbClr val="10201D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d(A,B) may differ from d(B,A)</a:t>
            </a:r>
            <a:endParaRPr lang="en-US" sz="17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Direction matters because of traffic, roads, or one-way constraints.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6324442" y="1587254"/>
            <a:ext cx="5410065" cy="1731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1100" kern="100" spc="60" dirty="0">
                <a:solidFill>
                  <a:srgbClr val="0A7C78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APPLICATIONS</a:t>
            </a:r>
            <a:endParaRPr lang="en-US" sz="11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4442" y="1900535"/>
            <a:ext cx="539736" cy="53975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324442" y="2599797"/>
            <a:ext cx="2552636" cy="3017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Delivery and logistics</a:t>
            </a:r>
            <a:endParaRPr lang="en-US" sz="18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81870" y="1900535"/>
            <a:ext cx="539736" cy="53975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9181870" y="2599797"/>
            <a:ext cx="2552636" cy="603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Vehicle routing and transportation</a:t>
            </a:r>
            <a:endParaRPr lang="en-US" sz="1800" dirty="0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4442" y="3497759"/>
            <a:ext cx="539736" cy="53975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6324442" y="4197021"/>
            <a:ext cx="2552636" cy="603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PCB drilling and manufacturing</a:t>
            </a:r>
            <a:endParaRPr lang="en-US" sz="1800" dirty="0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81870" y="3497759"/>
            <a:ext cx="539736" cy="53975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9181870" y="4197021"/>
            <a:ext cx="2552636" cy="603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Robotics and path planning</a:t>
            </a:r>
            <a:endParaRPr lang="en-US" sz="1800" dirty="0"/>
          </a:p>
        </p:txBody>
      </p:sp>
      <p:sp>
        <p:nvSpPr>
          <p:cNvPr id="22" name="Text 14"/>
          <p:cNvSpPr/>
          <p:nvPr/>
        </p:nvSpPr>
        <p:spPr>
          <a:xfrm>
            <a:off x="0" y="6098814"/>
            <a:ext cx="11886903" cy="1843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1100" dirty="0">
                <a:solidFill>
                  <a:srgbClr val="5F6D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04 · DAA / TSP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694880"/>
            <a:ext cx="6131367" cy="1731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1100" kern="100" spc="60" dirty="0">
                <a:solidFill>
                  <a:srgbClr val="0A7C78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EXACT SEARCH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189" y="1002955"/>
            <a:ext cx="6131367" cy="23689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4400" b="1" kern="100" spc="-88" dirty="0">
                <a:solidFill>
                  <a:srgbClr val="10201D"/>
                </a:solidFill>
                <a:latin typeface="Sora Bold" pitchFamily="34" charset="0"/>
                <a:ea typeface="Sora Bold" pitchFamily="34" charset="-122"/>
                <a:cs typeface="Sora Bold" pitchFamily="34" charset="-120"/>
              </a:rPr>
              <a:t>Brute force guarantees the answer—at factorial cost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189" y="3583484"/>
            <a:ext cx="868738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700" dirty="0">
                <a:solidFill>
                  <a:srgbClr val="083C35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01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57189" y="3885704"/>
            <a:ext cx="1942059" cy="19050"/>
          </a:xfrm>
          <a:prstGeom prst="rect">
            <a:avLst/>
          </a:prstGeom>
          <a:solidFill>
            <a:srgbClr val="083C3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457189" y="4044521"/>
            <a:ext cx="1942158" cy="3017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Generate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189" y="4526586"/>
            <a:ext cx="1942158" cy="5957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possible city permutation.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2551743" y="3583484"/>
            <a:ext cx="868738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700" dirty="0">
                <a:solidFill>
                  <a:srgbClr val="083C35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02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551743" y="3885704"/>
            <a:ext cx="1942059" cy="19050"/>
          </a:xfrm>
          <a:prstGeom prst="rect">
            <a:avLst/>
          </a:prstGeom>
          <a:solidFill>
            <a:srgbClr val="083C3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2551743" y="4044521"/>
            <a:ext cx="1942158" cy="3017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Evaluate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551743" y="4526586"/>
            <a:ext cx="1942158" cy="5957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Calculate each tour's total cost.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646298" y="3583484"/>
            <a:ext cx="868738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700" dirty="0">
                <a:solidFill>
                  <a:srgbClr val="083C35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03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646298" y="3885704"/>
            <a:ext cx="1942258" cy="19050"/>
          </a:xfrm>
          <a:prstGeom prst="rect">
            <a:avLst/>
          </a:prstGeom>
          <a:solidFill>
            <a:srgbClr val="083C3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4646298" y="4044521"/>
            <a:ext cx="1942258" cy="3017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Select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46298" y="4526586"/>
            <a:ext cx="1942258" cy="5957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Keep the minimum-cost tour.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57189" y="5271329"/>
            <a:ext cx="6131367" cy="1843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100" dirty="0">
                <a:solidFill>
                  <a:srgbClr val="5F6D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Time complexity: </a:t>
            </a:r>
            <a:r>
              <a:rPr lang="en-US" sz="1100" b="1" dirty="0">
                <a:solidFill>
                  <a:srgbClr val="5F6D68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O(n!)</a:t>
            </a:r>
            <a:r>
              <a:rPr lang="en-US" sz="1100" dirty="0">
                <a:solidFill>
                  <a:srgbClr val="5F6D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 It is exact, but quickly becomes impractical as </a:t>
            </a:r>
            <a:r>
              <a:rPr lang="en-US" sz="1100" i="1" dirty="0">
                <a:solidFill>
                  <a:srgbClr val="5F6D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</a:t>
            </a:r>
            <a:r>
              <a:rPr lang="en-US" sz="1100" dirty="0">
                <a:solidFill>
                  <a:srgbClr val="5F6D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grows.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045645" y="457200"/>
            <a:ext cx="4688862" cy="5220791"/>
          </a:xfrm>
          <a:prstGeom prst="rect">
            <a:avLst/>
          </a:prstGeom>
          <a:solidFill>
            <a:srgbClr val="083C3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7350437" y="1155652"/>
            <a:ext cx="4384069" cy="1731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1100" kern="100" spc="60" dirty="0">
                <a:solidFill>
                  <a:srgbClr val="FFFFFF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PSEUDOCODE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50437" y="1562596"/>
            <a:ext cx="4079277" cy="2849463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7609491" y="1778496"/>
            <a:ext cx="3561170" cy="24176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7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bestCost ← ∞</a:t>
            </a:r>
            <a:endParaRPr lang="en-US" sz="17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7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each permutation p of cities:</a:t>
            </a:r>
            <a:endParaRPr lang="en-US" sz="17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7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cost ← tourCost(p)</a:t>
            </a:r>
            <a:endParaRPr lang="en-US" sz="17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7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cost &lt; bestCost:</a:t>
            </a:r>
            <a:endParaRPr lang="en-US" sz="17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7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bestCost ← cost</a:t>
            </a:r>
            <a:endParaRPr lang="en-US" sz="17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7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bestTour ← p</a:t>
            </a:r>
            <a:endParaRPr lang="en-US" sz="17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7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bestTour, bestCost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350437" y="4810458"/>
            <a:ext cx="4384069" cy="1843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Simple, complete, and increasingly expensive.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0" y="5912878"/>
            <a:ext cx="11886903" cy="1843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1100" dirty="0">
                <a:solidFill>
                  <a:srgbClr val="5F6D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05 · DAA / TSP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694880"/>
            <a:ext cx="5410065" cy="1731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1100" kern="100" spc="60" dirty="0">
                <a:solidFill>
                  <a:srgbClr val="0A7C78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DYNAMIC PROGRAMMING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189" y="1002955"/>
            <a:ext cx="5410065" cy="1776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4400" b="1" kern="100" spc="-88" dirty="0">
                <a:solidFill>
                  <a:srgbClr val="10201D"/>
                </a:solidFill>
                <a:latin typeface="Sora Bold" pitchFamily="34" charset="0"/>
                <a:ea typeface="Sora Bold" pitchFamily="34" charset="-122"/>
                <a:cs typeface="Sora Bold" pitchFamily="34" charset="-120"/>
              </a:rPr>
              <a:t>Held–Karp reuses solutions to smaller subsets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189" y="2997724"/>
            <a:ext cx="5410065" cy="5957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0201D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State:</a:t>
            </a:r>
            <a:r>
              <a:rPr lang="en-US" sz="17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DP[S][j] is the minimum cost to start at A, visit every city in subset S, and finish at j.</a:t>
            </a:r>
            <a:endParaRPr lang="en-US" sz="17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89" y="3736181"/>
            <a:ext cx="5410065" cy="89931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189" y="4791202"/>
            <a:ext cx="5410065" cy="2978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0201D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Bitmasking</a:t>
            </a:r>
            <a:r>
              <a:rPr lang="en-US" sz="17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represents each subset S compactly.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324442" y="457200"/>
            <a:ext cx="5410065" cy="4853980"/>
          </a:xfrm>
          <a:prstGeom prst="roundRect">
            <a:avLst>
              <a:gd name="adj" fmla="val 4395"/>
            </a:avLst>
          </a:prstGeom>
          <a:solidFill>
            <a:srgbClr val="FFFFFF"/>
          </a:solidFill>
          <a:ln w="12700">
            <a:solidFill>
              <a:srgbClr val="CBD4CE"/>
            </a:solidFill>
            <a:prstDash val="solid"/>
          </a:ln>
          <a:effectLst>
            <a:outerShdw blurRad="227330" dist="74930" dir="5400000" algn="bl" rotWithShape="0">
              <a:srgbClr val="083C35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534" y="1344216"/>
            <a:ext cx="4825879" cy="208101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942528" y="1581433"/>
            <a:ext cx="2653810" cy="1528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b="1" kern="100" spc="-18" dirty="0">
                <a:solidFill>
                  <a:srgbClr val="FFFFFF"/>
                </a:solidFill>
                <a:latin typeface="Sora Bold" pitchFamily="34" charset="0"/>
                <a:ea typeface="Sora Bold" pitchFamily="34" charset="-122"/>
                <a:cs typeface="Sora Bold" pitchFamily="34" charset="-120"/>
              </a:rPr>
              <a:t>{A}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6942528" y="2064011"/>
            <a:ext cx="2653810" cy="1528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b="1" kern="100" spc="-18" dirty="0">
                <a:solidFill>
                  <a:srgbClr val="FFFFFF"/>
                </a:solidFill>
                <a:latin typeface="Sora Bold" pitchFamily="34" charset="0"/>
                <a:ea typeface="Sora Bold" pitchFamily="34" charset="-122"/>
                <a:cs typeface="Sora Bold" pitchFamily="34" charset="-120"/>
              </a:rPr>
              <a:t>{A,B}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6942528" y="2541763"/>
            <a:ext cx="2653810" cy="1528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b="1" kern="100" spc="-18" dirty="0">
                <a:solidFill>
                  <a:srgbClr val="FFFFFF"/>
                </a:solidFill>
                <a:latin typeface="Sora Bold" pitchFamily="34" charset="0"/>
                <a:ea typeface="Sora Bold" pitchFamily="34" charset="-122"/>
                <a:cs typeface="Sora Bold" pitchFamily="34" charset="-120"/>
              </a:rPr>
              <a:t>{A,C}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6942528" y="3019515"/>
            <a:ext cx="2653810" cy="1528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b="1" kern="100" spc="-18" dirty="0">
                <a:solidFill>
                  <a:srgbClr val="FFFFFF"/>
                </a:solidFill>
                <a:latin typeface="Sora Bold" pitchFamily="34" charset="0"/>
                <a:ea typeface="Sora Bold" pitchFamily="34" charset="-122"/>
                <a:cs typeface="Sora Bold" pitchFamily="34" charset="-120"/>
              </a:rPr>
              <a:t>{A,B,C}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6616534" y="3574455"/>
            <a:ext cx="2336742" cy="849709"/>
          </a:xfrm>
          <a:prstGeom prst="rect">
            <a:avLst/>
          </a:prstGeom>
          <a:solidFill>
            <a:srgbClr val="F2F4E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0"/>
          <p:cNvSpPr/>
          <p:nvPr/>
        </p:nvSpPr>
        <p:spPr>
          <a:xfrm>
            <a:off x="6794330" y="3707932"/>
            <a:ext cx="1981150" cy="5957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Time</a:t>
            </a:r>
            <a:endParaRPr lang="en-US" sz="17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O(n² × 2ⁿ)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9105672" y="3574455"/>
            <a:ext cx="2336742" cy="849709"/>
          </a:xfrm>
          <a:prstGeom prst="rect">
            <a:avLst/>
          </a:prstGeom>
          <a:solidFill>
            <a:srgbClr val="F2F4E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2"/>
          <p:cNvSpPr/>
          <p:nvPr/>
        </p:nvSpPr>
        <p:spPr>
          <a:xfrm>
            <a:off x="9283468" y="3707932"/>
            <a:ext cx="1981150" cy="5957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Space</a:t>
            </a:r>
            <a:endParaRPr lang="en-US" sz="17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O(n × 2ⁿ)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0" y="5546066"/>
            <a:ext cx="11886903" cy="1843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1100" dirty="0">
                <a:solidFill>
                  <a:srgbClr val="5F6D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06 · DAA / TSP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466280"/>
            <a:ext cx="5486263" cy="1731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1100" kern="100" spc="60" dirty="0">
                <a:solidFill>
                  <a:srgbClr val="0A7C78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SEARCH WITH PRUNING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189" y="765147"/>
            <a:ext cx="5029074" cy="1373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3400" b="1" kern="100" spc="-68" dirty="0">
                <a:solidFill>
                  <a:srgbClr val="10201D"/>
                </a:solidFill>
                <a:latin typeface="Sora Bold" pitchFamily="34" charset="0"/>
                <a:ea typeface="Sora Bold" pitchFamily="34" charset="-122"/>
                <a:cs typeface="Sora Bold" pitchFamily="34" charset="-120"/>
              </a:rPr>
              <a:t>Branch and bound prunes routes that cannot win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189" y="2365502"/>
            <a:ext cx="5029074" cy="5957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Avoid exploring branches whose lower bound is already too high.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189" y="3183334"/>
            <a:ext cx="5029074" cy="1914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5440" indent="-345440" algn="l">
              <a:lnSpc>
                <a:spcPct val="115000"/>
              </a:lnSpc>
              <a:buSzPct val="100000"/>
              <a:buFont typeface="+mj-lt"/>
              <a:buAutoNum type="arabicPeriod"/>
            </a:pPr>
            <a:r>
              <a:rPr lang="en-US" sz="17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Calculate an initial lower bound; explore a promising partial route.</a:t>
            </a:r>
            <a:endParaRPr lang="en-US" sz="1700" dirty="0"/>
          </a:p>
          <a:p>
            <a:pPr marL="345440" indent="-345440" algn="l">
              <a:lnSpc>
                <a:spcPct val="115000"/>
              </a:lnSpc>
              <a:buSzPct val="100000"/>
              <a:buFont typeface="+mj-lt"/>
              <a:buAutoNum type="arabicPeriod" startAt="2"/>
            </a:pPr>
            <a:r>
              <a:rPr lang="en-US" sz="17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Compare its lower bound with the best known tour.</a:t>
            </a:r>
            <a:endParaRPr lang="en-US" sz="1700" dirty="0"/>
          </a:p>
          <a:p>
            <a:pPr marL="345440" indent="-345440" algn="l">
              <a:lnSpc>
                <a:spcPct val="115000"/>
              </a:lnSpc>
              <a:buSzPct val="100000"/>
              <a:buFont typeface="+mj-lt"/>
              <a:buAutoNum type="arabicPeriod" startAt="3"/>
            </a:pPr>
            <a:r>
              <a:rPr lang="en-US" sz="17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Prune branches whose bound cannot improve the current best.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57189" y="5326063"/>
            <a:ext cx="5029074" cy="7816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spcAft>
                <a:spcPts val="1750"/>
              </a:spcAft>
              <a:buNone/>
            </a:pPr>
            <a:r>
              <a:rPr lang="en-US" sz="1100" dirty="0">
                <a:solidFill>
                  <a:srgbClr val="5F6D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Practical performance depends on the bounding strategy and the instance; worst-case behavior remains exponential or factorial depending on formulation.</a:t>
            </a:r>
            <a:endParaRPr lang="en-US" sz="11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100" dirty="0">
                <a:solidFill>
                  <a:srgbClr val="5F6D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07 · DAA / TSP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248244" y="0"/>
            <a:ext cx="5943451" cy="6858000"/>
          </a:xfrm>
          <a:prstGeom prst="rect">
            <a:avLst/>
          </a:prstGeom>
          <a:solidFill>
            <a:srgbClr val="FFFFFF"/>
          </a:solidFill>
          <a:ln w="25399">
            <a:solidFill>
              <a:srgbClr val="CBCFC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6730832" y="1615007"/>
            <a:ext cx="4978275" cy="402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Branch-and-Bound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730832" y="2194060"/>
            <a:ext cx="5460863" cy="1843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1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Route optimization search tree overview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730832" y="2662436"/>
            <a:ext cx="118663" cy="118666"/>
          </a:xfrm>
          <a:prstGeom prst="ellipse">
            <a:avLst/>
          </a:prstGeom>
          <a:solidFill>
            <a:srgbClr val="083C3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7065389" y="2611009"/>
            <a:ext cx="4643718" cy="3017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Explored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065389" y="3093073"/>
            <a:ext cx="4643718" cy="2978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bound 42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730832" y="3598565"/>
            <a:ext cx="118663" cy="118666"/>
          </a:xfrm>
          <a:prstGeom prst="ellipse">
            <a:avLst/>
          </a:prstGeom>
          <a:solidFill>
            <a:srgbClr val="083C3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7065389" y="3547138"/>
            <a:ext cx="4643718" cy="3017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Promising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065389" y="4029202"/>
            <a:ext cx="4643718" cy="2978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best 80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730832" y="4534694"/>
            <a:ext cx="118663" cy="118666"/>
          </a:xfrm>
          <a:prstGeom prst="ellipse">
            <a:avLst/>
          </a:prstGeom>
          <a:solidFill>
            <a:srgbClr val="083C3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7065389" y="4483267"/>
            <a:ext cx="4643718" cy="3017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Pruned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065389" y="4965331"/>
            <a:ext cx="4643718" cy="2978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prune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3578" y="771080"/>
            <a:ext cx="5796115" cy="1731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1100" kern="100" spc="60" dirty="0">
                <a:solidFill>
                  <a:srgbClr val="0A7C78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WORKED EXAMPLE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3578" y="1069947"/>
            <a:ext cx="5491323" cy="915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3400" b="1" kern="100" spc="-68" dirty="0">
                <a:solidFill>
                  <a:srgbClr val="10201D"/>
                </a:solidFill>
                <a:latin typeface="Sora Bold" pitchFamily="34" charset="0"/>
                <a:ea typeface="Sora Bold" pitchFamily="34" charset="-122"/>
                <a:cs typeface="Sora Bold" pitchFamily="34" charset="-120"/>
              </a:rPr>
              <a:t>Worked example: the best tour costs 80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63578" y="2212415"/>
            <a:ext cx="5796115" cy="1843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100" dirty="0">
                <a:solidFill>
                  <a:srgbClr val="5F6D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Symmetric distances: A–B 10, A–C 15, A–D 20, B–C 35, B–D 25, C–D 30.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3578" y="2539702"/>
          <a:ext cx="5491323" cy="2403216"/>
        </p:xfrm>
        <a:graphic>
          <a:graphicData uri="http://schemas.openxmlformats.org/drawingml/2006/table">
            <a:tbl>
              <a:tblPr/>
              <a:tblGrid>
                <a:gridCol w="13727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27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27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30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318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0201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</a:t>
                      </a:r>
                      <a:endParaRPr lang="en-US" sz="17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61921" marR="161921" marT="86358" marB="86358" anchor="ctr">
                    <a:lnL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0201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</a:t>
                      </a:r>
                      <a:endParaRPr lang="en-US" sz="17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61921" marR="161921" marT="86358" marB="86358" anchor="ctr">
                    <a:lnL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0201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</a:t>
                      </a:r>
                      <a:endParaRPr lang="en-US" sz="17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61921" marR="161921" marT="86358" marB="86358" anchor="ctr">
                    <a:lnL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0201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D</a:t>
                      </a:r>
                      <a:endParaRPr lang="en-US" sz="17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61921" marR="161921" marT="86358" marB="86358" anchor="ctr">
                    <a:lnL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318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0201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0</a:t>
                      </a:r>
                      <a:endParaRPr lang="en-US" sz="17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61921" marR="161921" marT="86358" marB="86358" anchor="ctr">
                    <a:lnL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0201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10</a:t>
                      </a:r>
                      <a:endParaRPr lang="en-US" sz="17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61921" marR="161921" marT="86358" marB="86358" anchor="ctr">
                    <a:lnL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0201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15</a:t>
                      </a:r>
                      <a:endParaRPr lang="en-US" sz="17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61921" marR="161921" marT="86358" marB="86358" anchor="ctr">
                    <a:lnL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0201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20</a:t>
                      </a:r>
                      <a:endParaRPr lang="en-US" sz="17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61921" marR="161921" marT="86358" marB="86358" anchor="ctr">
                    <a:lnL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318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0201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10</a:t>
                      </a:r>
                      <a:endParaRPr lang="en-US" sz="17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61921" marR="161921" marT="86358" marB="86358" anchor="ctr">
                    <a:lnL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0201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0</a:t>
                      </a:r>
                      <a:endParaRPr lang="en-US" sz="17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61921" marR="161921" marT="86358" marB="86358" anchor="ctr">
                    <a:lnL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0201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35</a:t>
                      </a:r>
                      <a:endParaRPr lang="en-US" sz="17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61921" marR="161921" marT="86358" marB="86358" anchor="ctr">
                    <a:lnL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0201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25</a:t>
                      </a:r>
                      <a:endParaRPr lang="en-US" sz="17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61921" marR="161921" marT="86358" marB="86358" anchor="ctr">
                    <a:lnL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318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0201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15</a:t>
                      </a:r>
                      <a:endParaRPr lang="en-US" sz="17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61921" marR="161921" marT="86358" marB="86358" anchor="ctr">
                    <a:lnL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0201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35</a:t>
                      </a:r>
                      <a:endParaRPr lang="en-US" sz="17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61921" marR="161921" marT="86358" marB="86358" anchor="ctr">
                    <a:lnL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0201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0</a:t>
                      </a:r>
                      <a:endParaRPr lang="en-US" sz="17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61921" marR="161921" marT="86358" marB="86358" anchor="ctr">
                    <a:lnL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0201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30</a:t>
                      </a:r>
                      <a:endParaRPr lang="en-US" sz="17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61921" marR="161921" marT="86358" marB="86358" anchor="ctr">
                    <a:lnL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04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0201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20</a:t>
                      </a:r>
                      <a:endParaRPr lang="en-US" sz="17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61921" marR="161921" marT="86358" marB="86358" anchor="ctr">
                    <a:lnL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0201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25</a:t>
                      </a:r>
                      <a:endParaRPr lang="en-US" sz="17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61921" marR="161921" marT="86358" marB="86358" anchor="ctr">
                    <a:lnL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0201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30</a:t>
                      </a:r>
                      <a:endParaRPr lang="en-US" sz="17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61921" marR="161921" marT="86358" marB="86358" anchor="ctr">
                    <a:lnL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0201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0</a:t>
                      </a:r>
                      <a:endParaRPr lang="en-US" sz="17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61921" marR="161921" marT="86358" marB="86358" anchor="ctr">
                    <a:lnL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63578" y="5123890"/>
            <a:ext cx="5796115" cy="1843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100" dirty="0">
                <a:solidFill>
                  <a:srgbClr val="5F6D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Distance matrix: A [0,10,15,20] · B [10,0,35,25] · C [15,35,0,30] · D [20,25,30,0].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659694" y="457200"/>
            <a:ext cx="5074813" cy="5493345"/>
          </a:xfrm>
          <a:prstGeom prst="roundRect">
            <a:avLst>
              <a:gd name="adj" fmla="val 1787"/>
            </a:avLst>
          </a:prstGeom>
          <a:solidFill>
            <a:srgbClr val="FFFFFF"/>
          </a:solidFill>
          <a:ln w="25399">
            <a:solidFill>
              <a:srgbClr val="CBCFC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6913687" y="720280"/>
            <a:ext cx="4820819" cy="1731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1100" kern="100" spc="60" dirty="0">
                <a:solidFill>
                  <a:srgbClr val="10201D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CANDIDATE OPTIMAL ROUTE</a:t>
            </a:r>
            <a:endParaRPr lang="en-US" sz="1100" dirty="0"/>
          </a:p>
        </p:txBody>
      </p:sp>
      <p:sp>
        <p:nvSpPr>
          <p:cNvPr id="5" name="Text 6"/>
          <p:cNvSpPr/>
          <p:nvPr/>
        </p:nvSpPr>
        <p:spPr>
          <a:xfrm>
            <a:off x="6913687" y="999653"/>
            <a:ext cx="4566826" cy="402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→ B → D → C → A</a:t>
            </a:r>
            <a:endParaRPr lang="en-US" sz="24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13687" y="1572419"/>
          <a:ext cx="4566825" cy="2175020"/>
        </p:xfrm>
        <a:graphic>
          <a:graphicData uri="http://schemas.openxmlformats.org/drawingml/2006/table">
            <a:tbl>
              <a:tblPr/>
              <a:tblGrid>
                <a:gridCol w="32880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87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75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0201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Route leg</a:t>
                      </a:r>
                      <a:endParaRPr lang="en-US" sz="17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0799" marR="50799" marT="63498" marB="6349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0201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Weight</a:t>
                      </a:r>
                      <a:endParaRPr lang="en-US" sz="17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0799" marR="50799" marT="63498" marB="6349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75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0201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 → B</a:t>
                      </a:r>
                      <a:endParaRPr lang="en-US" sz="17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0799" marR="50799" marT="63498" marB="6349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0201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10</a:t>
                      </a:r>
                      <a:endParaRPr lang="en-US" sz="17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0799" marR="50799" marT="63498" marB="6349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75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0201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 → D</a:t>
                      </a:r>
                      <a:endParaRPr lang="en-US" sz="17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0799" marR="50799" marT="63498" marB="6349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0201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25</a:t>
                      </a:r>
                      <a:endParaRPr lang="en-US" sz="17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0799" marR="50799" marT="63498" marB="6349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75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0201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D → C</a:t>
                      </a:r>
                      <a:endParaRPr lang="en-US" sz="17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0799" marR="50799" marT="63498" marB="6349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0201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30</a:t>
                      </a:r>
                      <a:endParaRPr lang="en-US" sz="17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0799" marR="50799" marT="63498" marB="6349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48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0201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 → A</a:t>
                      </a:r>
                      <a:endParaRPr lang="en-US" sz="17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0799" marR="50799" marT="63498" marB="6349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0201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15</a:t>
                      </a:r>
                      <a:endParaRPr lang="en-US" sz="17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0799" marR="50799" marT="63498" marB="6349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913687" y="3896717"/>
            <a:ext cx="4566826" cy="1799828"/>
          </a:xfrm>
          <a:prstGeom prst="rect">
            <a:avLst/>
          </a:prstGeom>
          <a:solidFill>
            <a:srgbClr val="083C3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7116882" y="4125317"/>
            <a:ext cx="4160436" cy="558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4400" b="1" kern="100" spc="-110" dirty="0">
                <a:solidFill>
                  <a:srgbClr val="FFFFFF"/>
                </a:solidFill>
                <a:latin typeface="Sora Bold" pitchFamily="34" charset="0"/>
                <a:ea typeface="Sora Bold" pitchFamily="34" charset="-122"/>
                <a:cs typeface="Sora Bold" pitchFamily="34" charset="-120"/>
              </a:rPr>
              <a:t>80</a:t>
            </a:r>
            <a:endParaRPr lang="en-US" sz="4400" dirty="0"/>
          </a:p>
        </p:txBody>
      </p:sp>
      <p:sp>
        <p:nvSpPr>
          <p:cNvPr id="13" name="Text 9"/>
          <p:cNvSpPr/>
          <p:nvPr/>
        </p:nvSpPr>
        <p:spPr>
          <a:xfrm>
            <a:off x="7116882" y="4893794"/>
            <a:ext cx="4363631" cy="2978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Optimal tour cost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7116882" y="5340683"/>
            <a:ext cx="4363631" cy="1843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 + 25 + 30 + 15 = 80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0" y="6185432"/>
            <a:ext cx="11886903" cy="1843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1100" dirty="0">
                <a:solidFill>
                  <a:srgbClr val="5F6D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08 · DAA / TSP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491680"/>
            <a:ext cx="11582110" cy="1731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1100" kern="100" spc="60" dirty="0">
                <a:solidFill>
                  <a:srgbClr val="0A7C78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CHOOSING AN APPROACH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9585" y="799755"/>
            <a:ext cx="11023324" cy="5922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4400" b="1" kern="100" spc="-88" dirty="0">
                <a:solidFill>
                  <a:srgbClr val="10201D"/>
                </a:solidFill>
                <a:latin typeface="Sora Bold" pitchFamily="34" charset="0"/>
                <a:ea typeface="Sora Bold" pitchFamily="34" charset="-122"/>
                <a:cs typeface="Sora Bold" pitchFamily="34" charset="-120"/>
              </a:rPr>
              <a:t>Algorithm choice is a trade-off</a:t>
            </a:r>
            <a:endParaRPr lang="en-US" sz="4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585" y="1603573"/>
          <a:ext cx="11023325" cy="3111421"/>
        </p:xfrm>
        <a:graphic>
          <a:graphicData uri="http://schemas.openxmlformats.org/drawingml/2006/table">
            <a:tbl>
              <a:tblPr/>
              <a:tblGrid>
                <a:gridCol w="19841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250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62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3298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0488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8103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0201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Algorithm</a:t>
                      </a:r>
                      <a:endParaRPr lang="en-US" sz="17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61921" marR="161921" marT="86358" marB="86358" anchor="ctr">
                    <a:lnL w="12700" cap="flat" cmpd="sng" algn="ctr">
                      <a:solidFill>
                        <a:srgbClr val="F2F4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0201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Basic technique</a:t>
                      </a:r>
                      <a:endParaRPr lang="en-US" sz="17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61921" marR="161921" marT="86358" marB="86358" anchor="ctr">
                    <a:lnL w="12700" cap="flat" cmpd="sng" algn="ctr">
                      <a:solidFill>
                        <a:srgbClr val="F2F4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0201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Complexity characteristics</a:t>
                      </a:r>
                      <a:endParaRPr lang="en-US" sz="17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61921" marR="161921" marT="86358" marB="86358" anchor="ctr">
                    <a:lnL w="12700" cap="flat" cmpd="sng" algn="ctr">
                      <a:solidFill>
                        <a:srgbClr val="F2F4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0201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Optimal?</a:t>
                      </a:r>
                      <a:endParaRPr lang="en-US" sz="17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61921" marR="161921" marT="86358" marB="86358" anchor="ctr">
                    <a:lnL w="12700" cap="flat" cmpd="sng" algn="ctr">
                      <a:solidFill>
                        <a:srgbClr val="F2F4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0201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Practical limitation</a:t>
                      </a:r>
                      <a:endParaRPr lang="en-US" sz="17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61921" marR="161921" marT="86358" marB="86358" anchor="ctr">
                    <a:lnL w="12700" cap="flat" cmpd="sng" algn="ctr">
                      <a:solidFill>
                        <a:srgbClr val="F2F4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318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b="1" dirty="0">
                          <a:solidFill>
                            <a:srgbClr val="10201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Brute Force</a:t>
                      </a:r>
                      <a:endParaRPr lang="en-US" sz="17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61921" marR="161921" marT="86358" marB="86358" anchor="ctr">
                    <a:lnL w="12700" cap="flat" cmpd="sng" algn="ctr">
                      <a:solidFill>
                        <a:srgbClr val="F2F4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0201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Enumerate all tours</a:t>
                      </a:r>
                      <a:endParaRPr lang="en-US" sz="17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61921" marR="161921" marT="86358" marB="86358" anchor="ctr">
                    <a:lnL w="12700" cap="flat" cmpd="sng" algn="ctr">
                      <a:solidFill>
                        <a:srgbClr val="F2F4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0201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O(n!)</a:t>
                      </a:r>
                      <a:endParaRPr lang="en-US" sz="17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61921" marR="161921" marT="86358" marB="86358" anchor="ctr">
                    <a:lnL w="12700" cap="flat" cmpd="sng" algn="ctr">
                      <a:solidFill>
                        <a:srgbClr val="F2F4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0201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Yes</a:t>
                      </a:r>
                      <a:endParaRPr lang="en-US" sz="17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61921" marR="161921" marT="86358" marB="86358" anchor="ctr">
                    <a:lnL w="12700" cap="flat" cmpd="sng" algn="ctr">
                      <a:solidFill>
                        <a:srgbClr val="F2F4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0201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Only small n</a:t>
                      </a:r>
                      <a:endParaRPr lang="en-US" sz="17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61921" marR="161921" marT="86358" marB="86358" anchor="ctr">
                    <a:lnL w="12700" cap="flat" cmpd="sng" algn="ctr">
                      <a:solidFill>
                        <a:srgbClr val="F2F4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103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b="1" dirty="0">
                          <a:solidFill>
                            <a:srgbClr val="10201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Held–Karp</a:t>
                      </a:r>
                      <a:endParaRPr lang="en-US" sz="17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61921" marR="161921" marT="86358" marB="86358" anchor="ctr">
                    <a:lnL w="12700" cap="flat" cmpd="sng" algn="ctr">
                      <a:solidFill>
                        <a:srgbClr val="F2F4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0201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Subset DP + bitmasking</a:t>
                      </a:r>
                      <a:endParaRPr lang="en-US" sz="17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61921" marR="161921" marT="86358" marB="86358" anchor="ctr">
                    <a:lnL w="12700" cap="flat" cmpd="sng" algn="ctr">
                      <a:solidFill>
                        <a:srgbClr val="F2F4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0201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O(n² × 2ⁿ) time; O(n × 2ⁿ) space</a:t>
                      </a:r>
                      <a:endParaRPr lang="en-US" sz="17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61921" marR="161921" marT="86358" marB="86358" anchor="ctr">
                    <a:lnL w="12700" cap="flat" cmpd="sng" algn="ctr">
                      <a:solidFill>
                        <a:srgbClr val="F2F4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0201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Yes</a:t>
                      </a:r>
                      <a:endParaRPr lang="en-US" sz="17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61921" marR="161921" marT="86358" marB="86358" anchor="ctr">
                    <a:lnL w="12700" cap="flat" cmpd="sng" algn="ctr">
                      <a:solidFill>
                        <a:srgbClr val="F2F4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0201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Memory-heavy for larger n</a:t>
                      </a:r>
                      <a:endParaRPr lang="en-US" sz="17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61921" marR="161921" marT="86358" marB="86358" anchor="ctr">
                    <a:lnL w="12700" cap="flat" cmpd="sng" algn="ctr">
                      <a:solidFill>
                        <a:srgbClr val="F2F4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661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b="1" dirty="0">
                          <a:solidFill>
                            <a:srgbClr val="10201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Branch and Bound</a:t>
                      </a:r>
                      <a:endParaRPr lang="en-US" sz="17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61921" marR="161921" marT="86358" marB="86358" anchor="ctr">
                    <a:lnL w="12700" cap="flat" cmpd="sng" algn="ctr">
                      <a:solidFill>
                        <a:srgbClr val="F2F4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0201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Search with lower bounds</a:t>
                      </a:r>
                      <a:endParaRPr lang="en-US" sz="17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61921" marR="161921" marT="86358" marB="86358" anchor="ctr">
                    <a:lnL w="12700" cap="flat" cmpd="sng" algn="ctr">
                      <a:solidFill>
                        <a:srgbClr val="F2F4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0201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Exponential or factorial worst case; instance-dependent</a:t>
                      </a:r>
                      <a:endParaRPr lang="en-US" sz="17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61921" marR="161921" marT="86358" marB="86358" anchor="ctr">
                    <a:lnL w="12700" cap="flat" cmpd="sng" algn="ctr">
                      <a:solidFill>
                        <a:srgbClr val="F2F4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0201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Yes when fully explored</a:t>
                      </a:r>
                      <a:endParaRPr lang="en-US" sz="17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61921" marR="161921" marT="86358" marB="86358" anchor="ctr">
                    <a:lnL w="12700" cap="flat" cmpd="sng" algn="ctr">
                      <a:solidFill>
                        <a:srgbClr val="F2F4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0201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Quality of bounds drives pruning</a:t>
                      </a:r>
                      <a:endParaRPr lang="en-US" sz="17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61921" marR="161921" marT="86358" marB="86358" anchor="ctr">
                    <a:lnL w="12700" cap="flat" cmpd="sng" algn="ctr">
                      <a:solidFill>
                        <a:srgbClr val="F2F4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4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0" y="6324338"/>
            <a:ext cx="11632909" cy="1843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1100" dirty="0">
                <a:solidFill>
                  <a:srgbClr val="5F6D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09 · DAA / TSP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283068" cy="6858000"/>
          </a:xfrm>
          <a:prstGeom prst="rect">
            <a:avLst/>
          </a:prstGeom>
          <a:solidFill>
            <a:srgbClr val="083C3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33387" y="542480"/>
            <a:ext cx="4749681" cy="1731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1100" kern="100" spc="60" dirty="0">
                <a:solidFill>
                  <a:srgbClr val="FFFFFF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TAKEAWAY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3387" y="1443137"/>
            <a:ext cx="4267093" cy="2235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4400" b="1" kern="100" spc="-110" dirty="0">
                <a:solidFill>
                  <a:srgbClr val="FFFFFF"/>
                </a:solidFill>
                <a:latin typeface="Sora Bold" pitchFamily="34" charset="0"/>
                <a:ea typeface="Sora Bold" pitchFamily="34" charset="-122"/>
                <a:cs typeface="Sora Bold" pitchFamily="34" charset="-120"/>
              </a:rPr>
              <a:t>TSP connects</a:t>
            </a:r>
            <a:endParaRPr lang="en-US" sz="4400" dirty="0"/>
          </a:p>
          <a:p>
            <a:pPr marL="0" indent="0" algn="l">
              <a:lnSpc>
                <a:spcPct val="83000"/>
              </a:lnSpc>
              <a:buNone/>
            </a:pPr>
            <a:r>
              <a:rPr lang="en-US" sz="4400" b="1" kern="100" spc="-110" dirty="0">
                <a:solidFill>
                  <a:srgbClr val="FFFFFF"/>
                </a:solidFill>
                <a:latin typeface="Sora Bold" pitchFamily="34" charset="0"/>
                <a:ea typeface="Sora Bold" pitchFamily="34" charset="-122"/>
                <a:cs typeface="Sora Bold" pitchFamily="34" charset="-120"/>
              </a:rPr>
              <a:t>theory to</a:t>
            </a:r>
            <a:endParaRPr lang="en-US" sz="4400" dirty="0"/>
          </a:p>
          <a:p>
            <a:pPr marL="0" indent="0" algn="l">
              <a:lnSpc>
                <a:spcPct val="83000"/>
              </a:lnSpc>
              <a:buNone/>
            </a:pPr>
            <a:r>
              <a:rPr lang="en-US" sz="4400" b="1" kern="100" spc="-110" dirty="0">
                <a:solidFill>
                  <a:srgbClr val="FFFFFF"/>
                </a:solidFill>
                <a:latin typeface="Sora Bold" pitchFamily="34" charset="0"/>
                <a:ea typeface="Sora Bold" pitchFamily="34" charset="-122"/>
                <a:cs typeface="Sora Bold" pitchFamily="34" charset="-120"/>
              </a:rPr>
              <a:t>practical optimization.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33387" y="3887823"/>
            <a:ext cx="4267093" cy="3686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route is concrete. The search strategy determines what we can afford to solve.</a:t>
            </a:r>
            <a:endParaRPr lang="en-US" sz="11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4857" y="431788"/>
            <a:ext cx="539736" cy="53975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70488" y="442087"/>
            <a:ext cx="5238619" cy="3017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Brute force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470488" y="924151"/>
            <a:ext cx="5238619" cy="2978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Simple and exact, but expensive.</a:t>
            </a:r>
            <a:endParaRPr lang="en-US" sz="17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4857" y="1367917"/>
            <a:ext cx="539736" cy="53975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470488" y="1378216"/>
            <a:ext cx="5238619" cy="3017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Dynamic programming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6470488" y="1860280"/>
            <a:ext cx="5238619" cy="2978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Avoids repeated computation across subsets.</a:t>
            </a:r>
            <a:endParaRPr lang="en-US" sz="17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4857" y="2304046"/>
            <a:ext cx="539736" cy="53975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70488" y="2314345"/>
            <a:ext cx="5238619" cy="3017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Branch and bound</a:t>
            </a:r>
            <a:endParaRPr lang="en-US" sz="1800" dirty="0"/>
          </a:p>
        </p:txBody>
      </p:sp>
      <p:sp>
        <p:nvSpPr>
          <p:cNvPr id="14" name="Text 9"/>
          <p:cNvSpPr/>
          <p:nvPr/>
        </p:nvSpPr>
        <p:spPr>
          <a:xfrm>
            <a:off x="6470488" y="2796409"/>
            <a:ext cx="5238619" cy="2978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Strong bounds can eliminate unnecessary search.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5714857" y="3370362"/>
            <a:ext cx="1977976" cy="38100"/>
          </a:xfrm>
          <a:prstGeom prst="roundRect">
            <a:avLst>
              <a:gd name="adj" fmla="val 49999"/>
            </a:avLst>
          </a:prstGeom>
          <a:solidFill>
            <a:srgbClr val="083C3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1"/>
          <p:cNvSpPr/>
          <p:nvPr/>
        </p:nvSpPr>
        <p:spPr>
          <a:xfrm>
            <a:off x="5714857" y="3697514"/>
            <a:ext cx="5994250" cy="5957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0201D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Central design question:</a:t>
            </a:r>
            <a:r>
              <a:rPr lang="en-US" sz="17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how much computational cost can we spend for an optimal route?</a:t>
            </a:r>
            <a:endParaRPr lang="en-US" sz="1700" dirty="0"/>
          </a:p>
        </p:txBody>
      </p:sp>
      <p:sp>
        <p:nvSpPr>
          <p:cNvPr id="17" name="Text 12"/>
          <p:cNvSpPr/>
          <p:nvPr/>
        </p:nvSpPr>
        <p:spPr>
          <a:xfrm>
            <a:off x="5714857" y="4521633"/>
            <a:ext cx="5994250" cy="3686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100" dirty="0">
                <a:solidFill>
                  <a:srgbClr val="5F6D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References: Thomas H. Cormen et al., </a:t>
            </a:r>
            <a:r>
              <a:rPr lang="en-US" sz="1100" i="1" dirty="0">
                <a:solidFill>
                  <a:srgbClr val="5F6D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Introduction to Algorithms</a:t>
            </a:r>
            <a:r>
              <a:rPr lang="en-US" sz="1100" dirty="0">
                <a:solidFill>
                  <a:srgbClr val="5F6D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; Jon Kleinberg and Éva Tardos, </a:t>
            </a:r>
            <a:r>
              <a:rPr lang="en-US" sz="1100" i="1" dirty="0">
                <a:solidFill>
                  <a:srgbClr val="5F6D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Algorithm Design</a:t>
            </a:r>
            <a:r>
              <a:rPr lang="en-US" sz="1100" dirty="0">
                <a:solidFill>
                  <a:srgbClr val="5F6D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; MIT OpenCourseWare, algorithms and combinatorial optimization materials.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5283068" y="5119120"/>
            <a:ext cx="6706769" cy="977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0201D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Thank You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5283068" y="6324338"/>
            <a:ext cx="6603835" cy="1843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1100" dirty="0">
                <a:solidFill>
                  <a:srgbClr val="5F6D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 · DAA / TSP</a:t>
            </a:r>
            <a:endParaRPr lang="en-US" sz="11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5768F0C-913B-47A1-93F9-BF1F12702BB4}"/>
              </a:ext>
            </a:extLst>
          </p:cNvPr>
          <p:cNvSpPr/>
          <p:nvPr/>
        </p:nvSpPr>
        <p:spPr>
          <a:xfrm>
            <a:off x="6018245" y="5682343"/>
            <a:ext cx="4842588" cy="886204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0E49276-B8A8-1BE1-5BDC-DD4761B973A9}"/>
              </a:ext>
            </a:extLst>
          </p:cNvPr>
          <p:cNvSpPr txBox="1"/>
          <p:nvPr/>
        </p:nvSpPr>
        <p:spPr>
          <a:xfrm>
            <a:off x="7772251" y="6431652"/>
            <a:ext cx="31910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Generated by AI</a:t>
            </a:r>
            <a:endParaRPr lang="en-IN" b="1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962</Words>
  <Application>Microsoft Office PowerPoint</Application>
  <PresentationFormat>Widescreen</PresentationFormat>
  <Paragraphs>192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IBM Plex Sans Bold</vt:lpstr>
      <vt:lpstr>Arial</vt:lpstr>
      <vt:lpstr>Consolas</vt:lpstr>
      <vt:lpstr>IBM Plex Sans SemiBold</vt:lpstr>
      <vt:lpstr>Sora Bold</vt:lpstr>
      <vt:lpstr>IBM Plex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RAJESHWARI</dc:creator>
  <cp:lastModifiedBy>Rajeshwari Bhute</cp:lastModifiedBy>
  <cp:revision>4</cp:revision>
  <dcterms:created xsi:type="dcterms:W3CDTF">2026-10-12T06:01:22Z</dcterms:created>
  <dcterms:modified xsi:type="dcterms:W3CDTF">2026-10-12T11:04:55Z</dcterms:modified>
</cp:coreProperties>
</file>