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BM Plex Sans" panose="020B0503050203000203" pitchFamily="34" charset="0"/>
      <p:regular r:id="rId17"/>
    </p:embeddedFont>
    <p:embeddedFont>
      <p:font typeface="IBM Plex Sans Bold" panose="020B0803050203000203" charset="0"/>
      <p:regular r:id="rId18"/>
    </p:embeddedFont>
    <p:embeddedFont>
      <p:font typeface="IBM Plex Sans SemiBold" panose="020B0703050203000203" pitchFamily="34" charset="0"/>
      <p:regular r:id="rId19"/>
    </p:embeddedFont>
    <p:embeddedFont>
      <p:font typeface="Sora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6343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2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89" y="457200"/>
            <a:ext cx="6390421" cy="5223669"/>
          </a:xfrm>
          <a:prstGeom prst="rect">
            <a:avLst/>
          </a:prstGeom>
          <a:solidFill>
            <a:srgbClr val="083C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17572" y="1075880"/>
            <a:ext cx="5730037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DESIGN AND ANALYSIS OF ALGORITHMS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7572" y="1777405"/>
            <a:ext cx="522205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14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Travelling</a:t>
            </a:r>
            <a:endParaRPr lang="en-US" sz="56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14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Salesman</a:t>
            </a:r>
            <a:endParaRPr lang="en-US" sz="56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14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Problem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117572" y="4010192"/>
            <a:ext cx="5222050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 the Optimal Route Using Algorithms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7572" y="4785058"/>
            <a:ext cx="5222050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Student: ____________________ · Department: ____________________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College: ____________________ · Academic Year: ____________________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47609" y="457200"/>
            <a:ext cx="4886897" cy="522366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203" y="889000"/>
            <a:ext cx="4074118" cy="4074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71752" y="1525717"/>
            <a:ext cx="1311172" cy="129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b="1" kern="100" spc="-15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A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471752" y="1733839"/>
            <a:ext cx="1311172" cy="545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Link to B (3), C (4) and D (2); connects to next.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447675" y="1616664"/>
            <a:ext cx="1311172" cy="129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b="1" kern="100" spc="-15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B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9447675" y="1824786"/>
            <a:ext cx="1311172" cy="363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Link to A (3), C (5) and D (6); continues cycle.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471752" y="3501690"/>
            <a:ext cx="1311172" cy="129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b="1" kern="100" spc="-15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471752" y="3709812"/>
            <a:ext cx="1311172" cy="545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Link to A (4), B (5) and D (1); leads toward finish.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447675" y="3501690"/>
            <a:ext cx="1311172" cy="129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b="1" kern="100" spc="-15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D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447675" y="3709812"/>
            <a:ext cx="1311172" cy="545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Link to A (2), B (6) and C (1); completes highlighted cycle.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847609" y="5071007"/>
            <a:ext cx="4683702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route is easy to draw. Finding the best one is the problem.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0" y="5915755"/>
            <a:ext cx="11886903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 · DAA / TSP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783" y="694880"/>
            <a:ext cx="5902773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783" y="1002955"/>
            <a:ext cx="5674178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400" b="1" kern="100" spc="-8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Every city once—then back home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783" y="2405487"/>
            <a:ext cx="5902773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simple rule creates a difficult search space.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783" y="2846090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783" y="3201757"/>
            <a:ext cx="1688165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Visit every city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783" y="3683822"/>
            <a:ext cx="1688165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city is visited exactly once.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678740" y="2846090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678740" y="3201757"/>
            <a:ext cx="1688165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Return to start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78740" y="3683822"/>
            <a:ext cx="1688165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route closes into a complete tour.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71697" y="2846090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71697" y="3201757"/>
            <a:ext cx="1688264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Minimize cost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71697" y="3683822"/>
            <a:ext cx="1688264" cy="1191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Choose the tour with the least distance or travel cost.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783" y="5024275"/>
            <a:ext cx="5902773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the number of cities increases, the possible routes grow rapidly.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239" y="685800"/>
            <a:ext cx="4231673" cy="41543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274239" y="5024275"/>
            <a:ext cx="4460267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candidate tour, highlighted among many possible journeys.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0" y="5665823"/>
            <a:ext cx="11886903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DAA / TSP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280"/>
            <a:ext cx="1173450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FORMAL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74355"/>
            <a:ext cx="11277318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400" b="1" kern="100" spc="-8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TSP turns a route into an optimization problem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189" y="2399010"/>
            <a:ext cx="5049414" cy="1489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150"/>
              </a:spcAft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Cities are vertices; travel links are weighted edges.</a:t>
            </a:r>
            <a:endParaRPr lang="en-US" sz="1700" dirty="0"/>
          </a:p>
          <a:p>
            <a:pPr marL="0" indent="0" algn="l">
              <a:lnSpc>
                <a:spcPct val="115000"/>
              </a:lnSpc>
              <a:spcAft>
                <a:spcPts val="1150"/>
              </a:spcAft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tour visits each city exactly once and returns to the start.</a:t>
            </a: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Objective: minimize the total tour cost.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4038104"/>
            <a:ext cx="5049414" cy="4701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4616188"/>
            <a:ext cx="5049414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 a Hamiltonian cycle; each </a:t>
            </a:r>
            <a:r>
              <a:rPr lang="en-US" sz="1100" i="1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d(i,j)</a:t>
            </a: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a distance or travel cost.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63691" y="2170410"/>
            <a:ext cx="5770815" cy="3817441"/>
          </a:xfrm>
          <a:prstGeom prst="roundRect">
            <a:avLst>
              <a:gd name="adj" fmla="val 5589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183" y="2650331"/>
            <a:ext cx="5135831" cy="2857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0" y="6222738"/>
            <a:ext cx="11886903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DAA / TSP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280"/>
            <a:ext cx="1173450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VARIANTS AND APPLICATIONS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74355"/>
            <a:ext cx="11277318" cy="592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400" b="1" kern="100" spc="-8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Two variants, many real-world uses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189" y="1587254"/>
            <a:ext cx="5410065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VARIANTS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189" y="1900535"/>
            <a:ext cx="2552636" cy="3963392"/>
          </a:xfrm>
          <a:prstGeom prst="roundRect">
            <a:avLst>
              <a:gd name="adj" fmla="val 3552"/>
            </a:avLst>
          </a:prstGeom>
          <a:solidFill>
            <a:srgbClr val="E5E9D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82" y="2129135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6582" y="2723876"/>
            <a:ext cx="1993850" cy="804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Symmetric TSP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36582" y="3698974"/>
            <a:ext cx="1993850" cy="134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150"/>
              </a:spcAft>
              <a:buNone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d(A,B) = d(B,A)</a:t>
            </a: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Travel cost is the same in either direction.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314617" y="1900535"/>
            <a:ext cx="2552636" cy="3963392"/>
          </a:xfrm>
          <a:prstGeom prst="roundRect">
            <a:avLst>
              <a:gd name="adj" fmla="val 3552"/>
            </a:avLst>
          </a:prstGeom>
          <a:solidFill>
            <a:srgbClr val="E5E9D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010" y="2129135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94010" y="2723876"/>
            <a:ext cx="1993850" cy="804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Asymmetric TSP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3594010" y="3698974"/>
            <a:ext cx="1993850" cy="1936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1150"/>
              </a:spcAft>
              <a:buNone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d(A,B) may differ from d(B,A)</a:t>
            </a: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Direction matters because of traffic, roads, or one-way constraints.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324442" y="1587254"/>
            <a:ext cx="5410065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APPLICATIONS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442" y="1900535"/>
            <a:ext cx="539736" cy="539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24442" y="2599797"/>
            <a:ext cx="2552636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Delivery and logistics</a:t>
            </a:r>
            <a:endParaRPr lang="en-US" sz="18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1870" y="1900535"/>
            <a:ext cx="539736" cy="5397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81870" y="2599797"/>
            <a:ext cx="2552636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Vehicle routing and transportation</a:t>
            </a:r>
            <a:endParaRPr lang="en-US" sz="18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442" y="3497759"/>
            <a:ext cx="539736" cy="5397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24442" y="4197021"/>
            <a:ext cx="2552636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PCB drilling and manufacturing</a:t>
            </a:r>
            <a:endParaRPr lang="en-US" sz="18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1870" y="3497759"/>
            <a:ext cx="539736" cy="5397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181870" y="4197021"/>
            <a:ext cx="2552636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Robotics and path planning</a:t>
            </a:r>
            <a:endParaRPr lang="en-US" sz="1800" dirty="0"/>
          </a:p>
        </p:txBody>
      </p:sp>
      <p:sp>
        <p:nvSpPr>
          <p:cNvPr id="22" name="Text 14"/>
          <p:cNvSpPr/>
          <p:nvPr/>
        </p:nvSpPr>
        <p:spPr>
          <a:xfrm>
            <a:off x="0" y="6098814"/>
            <a:ext cx="11886903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DAA / TSP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694880"/>
            <a:ext cx="6131367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EXACT SEARCH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1002955"/>
            <a:ext cx="6131367" cy="2368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400" b="1" kern="100" spc="-8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Brute force guarantees the answer—at factorial cost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189" y="3583484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189" y="3885704"/>
            <a:ext cx="1942059" cy="19050"/>
          </a:xfrm>
          <a:prstGeom prst="rect">
            <a:avLst/>
          </a:prstGeom>
          <a:solidFill>
            <a:srgbClr val="083C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189" y="4044521"/>
            <a:ext cx="194215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189" y="4526586"/>
            <a:ext cx="194215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possible city permutation.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551743" y="3583484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551743" y="3885704"/>
            <a:ext cx="1942059" cy="19050"/>
          </a:xfrm>
          <a:prstGeom prst="rect">
            <a:avLst/>
          </a:prstGeom>
          <a:solidFill>
            <a:srgbClr val="083C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551743" y="4044521"/>
            <a:ext cx="194215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51743" y="4526586"/>
            <a:ext cx="194215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Calculate each tour's total cost.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46298" y="3583484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646298" y="3885704"/>
            <a:ext cx="1942258" cy="19050"/>
          </a:xfrm>
          <a:prstGeom prst="rect">
            <a:avLst/>
          </a:prstGeom>
          <a:solidFill>
            <a:srgbClr val="083C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646298" y="4044521"/>
            <a:ext cx="194225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46298" y="4526586"/>
            <a:ext cx="194225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 the minimum-cost tour.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189" y="5271329"/>
            <a:ext cx="6131367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 complexity: </a:t>
            </a:r>
            <a:r>
              <a:rPr lang="en-US" sz="1100" b="1" dirty="0">
                <a:solidFill>
                  <a:srgbClr val="5F6D6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O(n!)</a:t>
            </a: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It is exact, but quickly becomes impractical as </a:t>
            </a:r>
            <a:r>
              <a:rPr lang="en-US" sz="1100" i="1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</a:t>
            </a: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grows.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5645" y="457200"/>
            <a:ext cx="4688862" cy="5220791"/>
          </a:xfrm>
          <a:prstGeom prst="rect">
            <a:avLst/>
          </a:prstGeom>
          <a:solidFill>
            <a:srgbClr val="083C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50437" y="1155652"/>
            <a:ext cx="4384069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PSEUDOCODE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50437" y="1562596"/>
            <a:ext cx="4079277" cy="2849463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609491" y="1778496"/>
            <a:ext cx="3561170" cy="241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bestCost ← ∞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permutation p of cities: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cost ← tourCost(p)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cost &lt; bestCost: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bestCost ← cost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bestTour ← p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bestTour, bestCost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50437" y="4810458"/>
            <a:ext cx="4384069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Simple, complete, and increasingly expensive.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5912878"/>
            <a:ext cx="11886903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· DAA / TSP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694880"/>
            <a:ext cx="5410065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DYNAMIC PROGRAMMING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1002955"/>
            <a:ext cx="5410065" cy="177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400" b="1" kern="100" spc="-8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Held–Karp reuses solutions to smaller subsets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189" y="2997724"/>
            <a:ext cx="5410065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State:</a:t>
            </a: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DP[S][j] is the minimum cost to start at A, visit every city in subset S, and finish at j.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3736181"/>
            <a:ext cx="5410065" cy="899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4791202"/>
            <a:ext cx="5410065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Bitmasking</a:t>
            </a: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represents each subset S compactly.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324442" y="457200"/>
            <a:ext cx="5410065" cy="4853980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534" y="1344216"/>
            <a:ext cx="4825879" cy="20810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2528" y="1581433"/>
            <a:ext cx="2653810" cy="152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b="1" kern="100" spc="-18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{A}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942528" y="2064011"/>
            <a:ext cx="2653810" cy="152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b="1" kern="100" spc="-18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{A,B}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942528" y="2541763"/>
            <a:ext cx="2653810" cy="152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b="1" kern="100" spc="-18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{A,C}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942528" y="3019515"/>
            <a:ext cx="2653810" cy="152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b="1" kern="100" spc="-18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{A,B,C}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616534" y="3574455"/>
            <a:ext cx="2336742" cy="849709"/>
          </a:xfrm>
          <a:prstGeom prst="rect">
            <a:avLst/>
          </a:prstGeom>
          <a:solidFill>
            <a:srgbClr val="F2F4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6794330" y="3707932"/>
            <a:ext cx="1981150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Time</a:t>
            </a: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O(n² × 2ⁿ)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9105672" y="3574455"/>
            <a:ext cx="2336742" cy="849709"/>
          </a:xfrm>
          <a:prstGeom prst="rect">
            <a:avLst/>
          </a:prstGeom>
          <a:solidFill>
            <a:srgbClr val="F2F4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9283468" y="3707932"/>
            <a:ext cx="1981150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Space</a:t>
            </a: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O(n × 2ⁿ)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0" y="5546066"/>
            <a:ext cx="11886903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· DAA / TSP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280"/>
            <a:ext cx="5486263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SEARCH WITH PRUNING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65147"/>
            <a:ext cx="5029074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Branch and bound prunes routes that cannot win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2365502"/>
            <a:ext cx="5029074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Avoid exploring branches whose lower bound is already too high.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189" y="3183334"/>
            <a:ext cx="5029074" cy="191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5000"/>
              </a:lnSpc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Calculate an initial lower bound; explore a promising partial route.</a:t>
            </a:r>
            <a:endParaRPr lang="en-US" sz="1700" dirty="0"/>
          </a:p>
          <a:p>
            <a:pPr marL="345440" indent="-345440" algn="l">
              <a:lnSpc>
                <a:spcPct val="115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its lower bound with the best known tour.</a:t>
            </a:r>
            <a:endParaRPr lang="en-US" sz="1700" dirty="0"/>
          </a:p>
          <a:p>
            <a:pPr marL="345440" indent="-345440" algn="l">
              <a:lnSpc>
                <a:spcPct val="115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Prune branches whose bound cannot improve the current best.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189" y="5326063"/>
            <a:ext cx="5029074" cy="781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1750"/>
              </a:spcAft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performance depends on the bounding strategy and the instance; worst-case behavior remains exponential or factorial depending on formulation.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 · DAA / TSP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8244" y="0"/>
            <a:ext cx="5943451" cy="6858000"/>
          </a:xfrm>
          <a:prstGeom prst="rect">
            <a:avLst/>
          </a:prstGeom>
          <a:solidFill>
            <a:srgbClr val="FFFFFF"/>
          </a:solidFill>
          <a:ln w="25399">
            <a:solidFill>
              <a:srgbClr val="CBC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730832" y="1615007"/>
            <a:ext cx="4978275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Branch-and-Bound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730832" y="2194060"/>
            <a:ext cx="5460863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 optimization search tree overview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30832" y="2662436"/>
            <a:ext cx="118663" cy="118666"/>
          </a:xfrm>
          <a:prstGeom prst="ellipse">
            <a:avLst/>
          </a:prstGeom>
          <a:solidFill>
            <a:srgbClr val="083C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065389" y="2611009"/>
            <a:ext cx="464371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Explored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65389" y="3093073"/>
            <a:ext cx="4643718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bound 42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730832" y="3598565"/>
            <a:ext cx="118663" cy="118666"/>
          </a:xfrm>
          <a:prstGeom prst="ellipse">
            <a:avLst/>
          </a:prstGeom>
          <a:solidFill>
            <a:srgbClr val="083C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065389" y="3547138"/>
            <a:ext cx="464371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Promising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65389" y="4029202"/>
            <a:ext cx="4643718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 80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730832" y="4534694"/>
            <a:ext cx="118663" cy="118666"/>
          </a:xfrm>
          <a:prstGeom prst="ellipse">
            <a:avLst/>
          </a:prstGeom>
          <a:solidFill>
            <a:srgbClr val="083C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065389" y="4483267"/>
            <a:ext cx="464371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Pruned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65389" y="4965331"/>
            <a:ext cx="4643718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prune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578" y="771080"/>
            <a:ext cx="5796115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3578" y="1069947"/>
            <a:ext cx="5491323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Worked example: the best tour costs 80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3578" y="2212415"/>
            <a:ext cx="5796115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Symmetric distances: A–B 10, A–C 15, A–D 20, B–C 35, B–D 25, C–D 30.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3578" y="2539702"/>
          <a:ext cx="5491323" cy="2403216"/>
        </p:xfrm>
        <a:graphic>
          <a:graphicData uri="http://schemas.openxmlformats.org/drawingml/2006/table">
            <a:tbl>
              <a:tblPr/>
              <a:tblGrid>
                <a:gridCol w="1372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2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2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3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3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35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25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35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30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25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30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63578" y="5123890"/>
            <a:ext cx="5796115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Distance matrix: A [0,10,15,20] · B [10,0,35,25] · C [15,35,0,30] · D [20,25,30,0].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659694" y="457200"/>
            <a:ext cx="5074813" cy="5493345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25399">
            <a:solidFill>
              <a:srgbClr val="CBCF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913687" y="720280"/>
            <a:ext cx="4820819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CANDIDATE OPTIMAL ROUTE</a:t>
            </a:r>
            <a:endParaRPr lang="en-US" sz="1100" dirty="0"/>
          </a:p>
        </p:txBody>
      </p:sp>
      <p:sp>
        <p:nvSpPr>
          <p:cNvPr id="5" name="Text 6"/>
          <p:cNvSpPr/>
          <p:nvPr/>
        </p:nvSpPr>
        <p:spPr>
          <a:xfrm>
            <a:off x="6913687" y="999653"/>
            <a:ext cx="4566826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→ B → D → C → A</a:t>
            </a:r>
            <a:endParaRPr lang="en-US" sz="24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13687" y="1572419"/>
          <a:ext cx="4566825" cy="2175020"/>
        </p:xfrm>
        <a:graphic>
          <a:graphicData uri="http://schemas.openxmlformats.org/drawingml/2006/table">
            <a:tbl>
              <a:tblPr/>
              <a:tblGrid>
                <a:gridCol w="3288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75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Route leg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Weight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5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→ B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5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 → D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25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5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 → C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30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 → A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913687" y="3896717"/>
            <a:ext cx="4566826" cy="1799828"/>
          </a:xfrm>
          <a:prstGeom prst="rect">
            <a:avLst/>
          </a:prstGeom>
          <a:solidFill>
            <a:srgbClr val="083C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7116882" y="4125317"/>
            <a:ext cx="4160436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11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80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7116882" y="4893794"/>
            <a:ext cx="4363631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Optimal tour cost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116882" y="5340683"/>
            <a:ext cx="4363631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+ 25 + 30 + 15 = 80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0" y="6185432"/>
            <a:ext cx="11886903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 · DAA / TSP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91680"/>
            <a:ext cx="11582110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CHOOSING AN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799755"/>
            <a:ext cx="11023324" cy="592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400" b="1" kern="100" spc="-8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Algorithm choice is a trade-off</a:t>
            </a:r>
            <a:endParaRPr lang="en-US" sz="4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603573"/>
          <a:ext cx="11023325" cy="3111421"/>
        </p:xfrm>
        <a:graphic>
          <a:graphicData uri="http://schemas.openxmlformats.org/drawingml/2006/table">
            <a:tbl>
              <a:tblPr/>
              <a:tblGrid>
                <a:gridCol w="1984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5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6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29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4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1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Algorithm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Basic technique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Complexity characteristics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Optimal?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Practical limitation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Brute Force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Enumerate all tours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O(n!)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Only small n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Held–Karp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Subset DP + bitmasking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O(n² × 2ⁿ) time; O(n × 2ⁿ) space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Memory-heavy for larger n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61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Branch and Bound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Search with lower bounds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Exponential or factorial worst case; instance-dependent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 when fully explored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Quality of bounds drives pruning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0" y="6324338"/>
            <a:ext cx="11632909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 · DAA / TSP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83068" cy="6858000"/>
          </a:xfrm>
          <a:prstGeom prst="rect">
            <a:avLst/>
          </a:prstGeom>
          <a:solidFill>
            <a:srgbClr val="083C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33387" y="542480"/>
            <a:ext cx="4749681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387" y="1443137"/>
            <a:ext cx="4267093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11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TSP connects</a:t>
            </a:r>
            <a:endParaRPr lang="en-US" sz="4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11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theory to</a:t>
            </a:r>
            <a:endParaRPr lang="en-US" sz="4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11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practical optimization.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33387" y="3887823"/>
            <a:ext cx="4267093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route is concrete. The search strategy determines what we can afford to solve.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857" y="431788"/>
            <a:ext cx="539736" cy="539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70488" y="442087"/>
            <a:ext cx="5238619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Brute force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70488" y="924151"/>
            <a:ext cx="523861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Simple and exact, but expensive.</a:t>
            </a:r>
            <a:endParaRPr lang="en-US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857" y="1367917"/>
            <a:ext cx="539736" cy="539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70488" y="1378216"/>
            <a:ext cx="5238619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Dynamic programming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470488" y="1860280"/>
            <a:ext cx="523861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Avoids repeated computation across subsets.</a:t>
            </a:r>
            <a:endParaRPr lang="en-US" sz="1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4857" y="2304046"/>
            <a:ext cx="539736" cy="539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70488" y="2314345"/>
            <a:ext cx="5238619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Branch and bound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470488" y="2796409"/>
            <a:ext cx="523861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Strong bounds can eliminate unnecessary search.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714857" y="3370362"/>
            <a:ext cx="1977976" cy="38100"/>
          </a:xfrm>
          <a:prstGeom prst="roundRect">
            <a:avLst>
              <a:gd name="adj" fmla="val 49999"/>
            </a:avLst>
          </a:prstGeom>
          <a:solidFill>
            <a:srgbClr val="083C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1"/>
          <p:cNvSpPr/>
          <p:nvPr/>
        </p:nvSpPr>
        <p:spPr>
          <a:xfrm>
            <a:off x="5714857" y="3697514"/>
            <a:ext cx="5994250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Central design question:</a:t>
            </a: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how much computational cost can we spend for an optimal route?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5714857" y="4521633"/>
            <a:ext cx="5994250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References: Thomas H. Cormen et al., </a:t>
            </a:r>
            <a:r>
              <a:rPr lang="en-US" sz="1100" i="1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Introduction to Algorithms</a:t>
            </a: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Jon Kleinberg and Éva Tardos, </a:t>
            </a:r>
            <a:r>
              <a:rPr lang="en-US" sz="1100" i="1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Algorithm Design</a:t>
            </a: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MIT OpenCourseWare, algorithms and combinatorial optimization materials.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283068" y="5119120"/>
            <a:ext cx="6706769" cy="977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Thank You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5283068" y="6324338"/>
            <a:ext cx="6603835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· DAA / TSP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768F0C-913B-47A1-93F9-BF1F12702BB4}"/>
              </a:ext>
            </a:extLst>
          </p:cNvPr>
          <p:cNvSpPr/>
          <p:nvPr/>
        </p:nvSpPr>
        <p:spPr>
          <a:xfrm>
            <a:off x="6018245" y="5682343"/>
            <a:ext cx="4842588" cy="8862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E49276-B8A8-1BE1-5BDC-DD4761B973A9}"/>
              </a:ext>
            </a:extLst>
          </p:cNvPr>
          <p:cNvSpPr txBox="1"/>
          <p:nvPr/>
        </p:nvSpPr>
        <p:spPr>
          <a:xfrm>
            <a:off x="7772251" y="6431652"/>
            <a:ext cx="3191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Generated by AI</a:t>
            </a:r>
            <a:endParaRPr lang="en-IN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977</Words>
  <Application>Microsoft Office PowerPoint</Application>
  <PresentationFormat>Widescreen</PresentationFormat>
  <Paragraphs>194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IBM Plex Sans Bold</vt:lpstr>
      <vt:lpstr>Arial</vt:lpstr>
      <vt:lpstr>Consolas</vt:lpstr>
      <vt:lpstr>IBM Plex Sans SemiBold</vt:lpstr>
      <vt:lpstr>Sora Bold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RAJESHWARI</dc:creator>
  <cp:lastModifiedBy>Rajeshwari Bhute</cp:lastModifiedBy>
  <cp:revision>3</cp:revision>
  <dcterms:created xsi:type="dcterms:W3CDTF">2026-10-12T06:01:22Z</dcterms:created>
  <dcterms:modified xsi:type="dcterms:W3CDTF">2026-10-12T06:10:45Z</dcterms:modified>
</cp:coreProperties>
</file>